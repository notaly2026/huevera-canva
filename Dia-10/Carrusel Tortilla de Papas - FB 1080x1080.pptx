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8229600" cy="82296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0945E0-FC08-42CA-B323-5AEAADFD3B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4EE819-90A7-4CF8-95A8-4A24D017A1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362023-B813-4B2B-8D55-69B6293D8D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A5FD1F-30B9-4D34-B87A-675B16F10A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CB7855-68D1-4206-B7D5-5844369370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038840-3992-44F2-8297-BF8CF93711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9E72D5-6C3D-4DC0-96E9-382087154B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D7D72A-5864-4F2C-91FC-CFC1741D85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C50CFE-D513-402C-87B3-E4D823A1CF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11480" y="328320"/>
            <a:ext cx="740628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11480" y="1925640"/>
            <a:ext cx="7406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3AA325-5F8C-4E21-BF1C-64E17B8A14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C5B323-4FC3-4FD8-8408-D9E9526F7B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tortilla.jpg"/>
          <p:cNvPicPr/>
          <p:nvPr/>
        </p:nvPicPr>
        <p:blipFill>
          <a:blip r:embed="rId1"/>
          <a:stretch/>
        </p:blipFill>
        <p:spPr>
          <a:xfrm>
            <a:off x="0" y="-993240"/>
            <a:ext cx="8229240" cy="1021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Box 3"/>
          <p:cNvSpPr/>
          <p:nvPr/>
        </p:nvSpPr>
        <p:spPr>
          <a:xfrm>
            <a:off x="777240" y="5958720"/>
            <a:ext cx="667476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Hanken Grotesk"/>
              </a:rPr>
              <a:t>El secreto está en el punto.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777240" y="2364120"/>
            <a:ext cx="6674760" cy="35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Bricolage Grotesque"/>
              </a:rPr>
              <a:t>Tortilla de papas con huevos frescos</a:t>
            </a:r>
            <a:endParaRPr lang="es-E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5"/>
          <p:cNvSpPr/>
          <p:nvPr/>
        </p:nvSpPr>
        <p:spPr>
          <a:xfrm>
            <a:off x="777240" y="1706040"/>
            <a:ext cx="1263960" cy="37296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tIns="18360" rIns="12816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81F"/>
                </a:solidFill>
                <a:effectLst/>
                <a:uFillTx/>
                <a:latin typeface="Bricolage Grotesque"/>
              </a:rPr>
              <a:t>RECETAS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777240" y="7269480"/>
            <a:ext cx="6674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5C13F"/>
                </a:solidFill>
                <a:effectLst/>
                <a:uFillTx/>
                <a:latin typeface="Bricolage Grotesque"/>
              </a:rPr>
              <a:t>● 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Bricolage Grotesque"/>
              </a:rPr>
              <a:t>Huevera   @huevera.cl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5166360" y="722376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Bricolage Grotesque"/>
              </a:rPr>
              <a:t>Desliza →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1"/>
          <p:cNvSpPr/>
          <p:nvPr/>
        </p:nvSpPr>
        <p:spPr>
          <a:xfrm>
            <a:off x="3294000" y="1371600"/>
            <a:ext cx="1640880" cy="37296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tIns="18360" rIns="12816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81F"/>
                </a:solidFill>
                <a:effectLst/>
                <a:uFillTx/>
                <a:latin typeface="Bricolage Grotesque"/>
              </a:rPr>
              <a:t>EL SECRETO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77240" y="2030040"/>
            <a:ext cx="6674760" cy="334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Bricolage Grotesque"/>
              </a:rPr>
              <a:t>Huevos frescos y no pasarte de cocción.</a:t>
            </a:r>
            <a:endParaRPr lang="es-E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77240" y="5370480"/>
            <a:ext cx="6674760" cy="15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Hanken Grotesk"/>
              </a:rPr>
              <a:t>Así queda jugosa por dentro, no seca.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C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ounded Rectangle 1"/>
          <p:cNvSpPr/>
          <p:nvPr/>
        </p:nvSpPr>
        <p:spPr>
          <a:xfrm>
            <a:off x="777240" y="777240"/>
            <a:ext cx="1766880" cy="37296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tIns="18360" rIns="12816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5C13F"/>
                </a:solidFill>
                <a:effectLst/>
                <a:uFillTx/>
                <a:latin typeface="Bricolage Grotesque"/>
              </a:rPr>
              <a:t>PASO A PASO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777240" y="1508760"/>
            <a:ext cx="6674760" cy="15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14181F"/>
                </a:solidFill>
                <a:effectLst/>
                <a:uFillTx/>
                <a:latin typeface="Bricolage Grotesque"/>
              </a:rPr>
              <a:t>5 pasos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Oval 3"/>
          <p:cNvSpPr/>
          <p:nvPr/>
        </p:nvSpPr>
        <p:spPr>
          <a:xfrm>
            <a:off x="777240" y="3391560"/>
            <a:ext cx="619920" cy="619920"/>
          </a:xfrm>
          <a:prstGeom prst="ellipse">
            <a:avLst/>
          </a:prstGeom>
          <a:solidFill>
            <a:srgbClr val="1418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777240" y="3391560"/>
            <a:ext cx="61992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5C13F"/>
                </a:solidFill>
                <a:effectLst/>
                <a:uFillTx/>
                <a:latin typeface="Bricolage Grotesque"/>
              </a:rPr>
              <a:t>1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1763280" y="3409560"/>
            <a:ext cx="568872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4181F"/>
                </a:solidFill>
                <a:effectLst/>
                <a:uFillTx/>
                <a:latin typeface="Bricolage Grotesque"/>
              </a:rPr>
              <a:t>Corta las papas finas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1763280" y="3713760"/>
            <a:ext cx="56887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4181F"/>
                </a:solidFill>
                <a:effectLst/>
                <a:uFillTx/>
                <a:latin typeface="Hanken Grotesk"/>
              </a:rPr>
              <a:t>En láminas delgadas, parejas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Oval 7"/>
          <p:cNvSpPr/>
          <p:nvPr/>
        </p:nvSpPr>
        <p:spPr>
          <a:xfrm>
            <a:off x="777240" y="4194360"/>
            <a:ext cx="619920" cy="619920"/>
          </a:xfrm>
          <a:prstGeom prst="ellipse">
            <a:avLst/>
          </a:prstGeom>
          <a:solidFill>
            <a:srgbClr val="1418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777240" y="4194360"/>
            <a:ext cx="61992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5C13F"/>
                </a:solidFill>
                <a:effectLst/>
                <a:uFillTx/>
                <a:latin typeface="Bricolage Grotesque"/>
              </a:rPr>
              <a:t>2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1763280" y="4212720"/>
            <a:ext cx="568872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4181F"/>
                </a:solidFill>
                <a:effectLst/>
                <a:uFillTx/>
                <a:latin typeface="Bricolage Grotesque"/>
              </a:rPr>
              <a:t>Fríelas a fuego suave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1763280" y="4516920"/>
            <a:ext cx="56887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4181F"/>
                </a:solidFill>
                <a:effectLst/>
                <a:uFillTx/>
                <a:latin typeface="Hanken Grotesk"/>
              </a:rPr>
              <a:t>Hasta blandas, sin dorar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Oval 11"/>
          <p:cNvSpPr/>
          <p:nvPr/>
        </p:nvSpPr>
        <p:spPr>
          <a:xfrm>
            <a:off x="777240" y="4997520"/>
            <a:ext cx="619920" cy="619920"/>
          </a:xfrm>
          <a:prstGeom prst="ellipse">
            <a:avLst/>
          </a:prstGeom>
          <a:solidFill>
            <a:srgbClr val="1418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2"/>
          <p:cNvSpPr/>
          <p:nvPr/>
        </p:nvSpPr>
        <p:spPr>
          <a:xfrm>
            <a:off x="777240" y="4997520"/>
            <a:ext cx="61992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5C13F"/>
                </a:solidFill>
                <a:effectLst/>
                <a:uFillTx/>
                <a:latin typeface="Bricolage Grotesque"/>
              </a:rPr>
              <a:t>3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3"/>
          <p:cNvSpPr/>
          <p:nvPr/>
        </p:nvSpPr>
        <p:spPr>
          <a:xfrm>
            <a:off x="1763280" y="5015880"/>
            <a:ext cx="568872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4181F"/>
                </a:solidFill>
                <a:effectLst/>
                <a:uFillTx/>
                <a:latin typeface="Bricolage Grotesque"/>
              </a:rPr>
              <a:t>Bate los huevos frescos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4"/>
          <p:cNvSpPr/>
          <p:nvPr/>
        </p:nvSpPr>
        <p:spPr>
          <a:xfrm>
            <a:off x="1763280" y="5320080"/>
            <a:ext cx="56887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4181F"/>
                </a:solidFill>
                <a:effectLst/>
                <a:uFillTx/>
                <a:latin typeface="Hanken Grotesk"/>
              </a:rPr>
              <a:t>Con sal, y mézclalos con la papa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Oval 15"/>
          <p:cNvSpPr/>
          <p:nvPr/>
        </p:nvSpPr>
        <p:spPr>
          <a:xfrm>
            <a:off x="777240" y="5800680"/>
            <a:ext cx="619920" cy="619920"/>
          </a:xfrm>
          <a:prstGeom prst="ellipse">
            <a:avLst/>
          </a:prstGeom>
          <a:solidFill>
            <a:srgbClr val="1418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6"/>
          <p:cNvSpPr/>
          <p:nvPr/>
        </p:nvSpPr>
        <p:spPr>
          <a:xfrm>
            <a:off x="777240" y="5800680"/>
            <a:ext cx="61992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5C13F"/>
                </a:solidFill>
                <a:effectLst/>
                <a:uFillTx/>
                <a:latin typeface="Bricolage Grotesque"/>
              </a:rPr>
              <a:t>4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7"/>
          <p:cNvSpPr/>
          <p:nvPr/>
        </p:nvSpPr>
        <p:spPr>
          <a:xfrm>
            <a:off x="1763280" y="5818680"/>
            <a:ext cx="568872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4181F"/>
                </a:solidFill>
                <a:effectLst/>
                <a:uFillTx/>
                <a:latin typeface="Bricolage Grotesque"/>
              </a:rPr>
              <a:t>Cuaja a fuego bajo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8"/>
          <p:cNvSpPr/>
          <p:nvPr/>
        </p:nvSpPr>
        <p:spPr>
          <a:xfrm>
            <a:off x="1763280" y="6122880"/>
            <a:ext cx="56887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4181F"/>
                </a:solidFill>
                <a:effectLst/>
                <a:uFillTx/>
                <a:latin typeface="Hanken Grotesk"/>
              </a:rPr>
              <a:t>Voltea con ayuda de un plato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Oval 19"/>
          <p:cNvSpPr/>
          <p:nvPr/>
        </p:nvSpPr>
        <p:spPr>
          <a:xfrm>
            <a:off x="777240" y="6603480"/>
            <a:ext cx="619920" cy="619920"/>
          </a:xfrm>
          <a:prstGeom prst="ellipse">
            <a:avLst/>
          </a:prstGeom>
          <a:solidFill>
            <a:srgbClr val="1418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0"/>
          <p:cNvSpPr/>
          <p:nvPr/>
        </p:nvSpPr>
        <p:spPr>
          <a:xfrm>
            <a:off x="777240" y="6603480"/>
            <a:ext cx="61992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5C13F"/>
                </a:solidFill>
                <a:effectLst/>
                <a:uFillTx/>
                <a:latin typeface="Bricolage Grotesque"/>
              </a:rPr>
              <a:t>5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1"/>
          <p:cNvSpPr/>
          <p:nvPr/>
        </p:nvSpPr>
        <p:spPr>
          <a:xfrm>
            <a:off x="1763280" y="6621840"/>
            <a:ext cx="568872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4181F"/>
                </a:solidFill>
                <a:effectLst/>
                <a:uFillTx/>
                <a:latin typeface="Bricolage Grotesque"/>
              </a:rPr>
              <a:t>Punto jugoso al centro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2"/>
          <p:cNvSpPr/>
          <p:nvPr/>
        </p:nvSpPr>
        <p:spPr>
          <a:xfrm>
            <a:off x="1763280" y="6926040"/>
            <a:ext cx="56887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4181F"/>
                </a:solidFill>
                <a:effectLst/>
                <a:uFillTx/>
                <a:latin typeface="Hanken Grotesk"/>
              </a:rPr>
              <a:t>Apaga antes de que se seque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C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ounded Rectangle 1"/>
          <p:cNvSpPr/>
          <p:nvPr/>
        </p:nvSpPr>
        <p:spPr>
          <a:xfrm>
            <a:off x="777240" y="777240"/>
            <a:ext cx="1389600" cy="37296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tIns="18360" rIns="12816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5C13F"/>
                </a:solidFill>
                <a:effectLst/>
                <a:uFillTx/>
                <a:latin typeface="Bricolage Grotesque"/>
              </a:rPr>
              <a:t>EL PUNTO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2"/>
          <p:cNvSpPr/>
          <p:nvPr/>
        </p:nvSpPr>
        <p:spPr>
          <a:xfrm>
            <a:off x="777240" y="1367640"/>
            <a:ext cx="1371240" cy="145800"/>
          </a:xfrm>
          <a:prstGeom prst="rect">
            <a:avLst/>
          </a:prstGeom>
          <a:solidFill>
            <a:srgbClr val="1418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777240" y="1824840"/>
            <a:ext cx="6674760" cy="38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14181F"/>
                </a:solidFill>
                <a:effectLst/>
                <a:uFillTx/>
                <a:latin typeface="Bricolage Grotesque"/>
              </a:rPr>
              <a:t>Jugosa al centro, dorada por fuera.</a:t>
            </a:r>
            <a:endParaRPr lang="es-E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777240" y="5673240"/>
            <a:ext cx="6674760" cy="11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2600" b="0" u="none" strike="noStrike">
                <a:solidFill>
                  <a:srgbClr val="14181F"/>
                </a:solidFill>
                <a:effectLst/>
                <a:uFillTx/>
                <a:latin typeface="Hanken Grotesk"/>
              </a:rPr>
              <a:t>Ese es el secreto chileno.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777240" y="7269480"/>
            <a:ext cx="6674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4181F"/>
                </a:solidFill>
                <a:effectLst/>
                <a:uFillTx/>
                <a:latin typeface="Bricolage Grotesque"/>
              </a:rPr>
              <a:t>●  Huevera   @huevera.cl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ounded Rectangle 1"/>
          <p:cNvSpPr/>
          <p:nvPr/>
        </p:nvSpPr>
        <p:spPr>
          <a:xfrm>
            <a:off x="777240" y="777240"/>
            <a:ext cx="1389600" cy="37296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tIns="18360" rIns="12816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81F"/>
                </a:solidFill>
                <a:effectLst/>
                <a:uFillTx/>
                <a:latin typeface="Bricolage Grotesque"/>
              </a:rPr>
              <a:t>GUÁRDALA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777240" y="1558080"/>
            <a:ext cx="1371240" cy="145800"/>
          </a:xfrm>
          <a:prstGeom prst="rect">
            <a:avLst/>
          </a:prstGeom>
          <a:solidFill>
            <a:srgbClr val="F5C1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777240" y="2015280"/>
            <a:ext cx="6674760" cy="346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000" b="1" u="none" strike="noStrike">
                <a:solidFill>
                  <a:srgbClr val="FFFFFF"/>
                </a:solidFill>
                <a:effectLst/>
                <a:uFillTx/>
                <a:latin typeface="Bricolage Grotesque"/>
              </a:rPr>
              <a:t>Guarda la receta y pide tus huevos en huevera.cl 🥚</a:t>
            </a:r>
            <a:endParaRPr lang="es-ES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777240" y="7269480"/>
            <a:ext cx="6674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5C13F"/>
                </a:solidFill>
                <a:effectLst/>
                <a:uFillTx/>
                <a:latin typeface="Bricolage Grotesque"/>
              </a:rPr>
              <a:t>● 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Bricolage Grotesque"/>
              </a:rPr>
              <a:t>Huevera   @huevera.cl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2026-06-03T01:19:39Z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